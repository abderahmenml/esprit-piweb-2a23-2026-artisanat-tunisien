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1" r:id="rId9"/>
    <p:sldId id="267" r:id="rId10"/>
    <p:sldId id="268" r:id="rId11"/>
    <p:sldId id="269" r:id="rId12"/>
    <p:sldId id="270" r:id="rId13"/>
    <p:sldId id="266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0C4"/>
    <a:srgbClr val="593421"/>
    <a:srgbClr val="6B3F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5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212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09728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19456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329184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438912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09728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19456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29184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438912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109728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219456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329184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438912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09728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19456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29184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438912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109728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19456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29184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38912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109728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219456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329184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438912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109728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219456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21040" y="329184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4389120"/>
            <a:ext cx="54864" cy="54864"/>
          </a:xfrm>
          <a:prstGeom prst="rect">
            <a:avLst/>
          </a:prstGeom>
          <a:solidFill>
            <a:srgbClr val="C49A6C">
              <a:alpha val="25000"/>
            </a:srgbClr>
          </a:solidFill>
          <a:ln w="12700">
            <a:solidFill>
              <a:srgbClr val="C49A6C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sz="5400" b="1" dirty="0">
                <a:solidFill>
                  <a:srgbClr val="F5ECD7"/>
                </a:solidFill>
                <a:latin typeface="Georgia" panose="02040502050405020303" pitchFamily="18" charset="0"/>
                <a:ea typeface="Georgia" pitchFamily="34" charset="-122"/>
                <a:cs typeface="DecoType Thuluth" panose="02010000000000000000" pitchFamily="2" charset="-78"/>
              </a:rPr>
              <a:t>حرفة</a:t>
            </a:r>
            <a:r>
              <a:rPr lang="en-US" sz="54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Tunisie</a:t>
            </a:r>
            <a:endParaRPr lang="en-US" sz="5400" dirty="0"/>
          </a:p>
        </p:txBody>
      </p:sp>
      <p:sp>
        <p:nvSpPr>
          <p:cNvPr id="45" name="Text 4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L'artisanat tunisien, à l'ère du numérique. »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2926080" y="2331720"/>
            <a:ext cx="3291840" cy="36576"/>
          </a:xfrm>
          <a:prstGeom prst="rect">
            <a:avLst/>
          </a:prstGeom>
          <a:solidFill>
            <a:srgbClr val="C49A6C">
              <a:alpha val="60000"/>
            </a:srgbClr>
          </a:solidFill>
          <a:ln w="12700">
            <a:solidFill>
              <a:srgbClr val="C49A6C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numérique intégrée dédiée à l'artisanat tunisien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Connectant créateurs · artisans · investisseurs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97280" y="347472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8B5A3A"/>
          </a:solidFill>
          <a:ln w="12700">
            <a:solidFill>
              <a:srgbClr val="8B5A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520440" y="347472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/ Artisan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943600" y="347472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Investisseur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3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3474720" cy="5033772"/>
          </a:xfrm>
          <a:prstGeom prst="rect">
            <a:avLst/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Problé-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matique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" y="21488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paradoxe au cœur</a:t>
            </a:r>
            <a:endParaRPr lang="en-US" sz="1500" dirty="0"/>
          </a:p>
          <a:p>
            <a:pPr marL="0" indent="0" algn="l">
              <a:buNone/>
            </a:pPr>
            <a:r>
              <a:rPr lang="en-US" sz="1500" i="1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l'artisanat tunisien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" y="30175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30175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d'artisans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visibilité en ligne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38404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3840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intégrée existante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320040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320040"/>
            <a:ext cx="109728" cy="1325880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3931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4114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porteurs d'idées bloqués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8229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matériaux, compétences et partenaires pour concrétiser leurs projets artisanaux.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03320" y="1828800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03320" y="1828800"/>
            <a:ext cx="109728" cy="1325880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9019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🧑‍🎨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80560" y="19202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artisans sous-valorisés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23317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experts qualifiés peinent à monétiser leur savoir-faire sans canal structuré.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03320" y="3337560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3337560"/>
            <a:ext cx="109728" cy="1325880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4107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💼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80560" y="34290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investisseurs sans accès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38404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canal fiable pour financer des projets locaux d'artisanat de qualité.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 existantes &amp; leurs limites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r>
              <a:rPr lang="en-US" sz="1500" i="1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SA" sz="1500" i="1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DecoType Thuluth" panose="02010000000000000000" pitchFamily="2" charset="-78"/>
              </a:rPr>
              <a:t>حرفة</a:t>
            </a:r>
            <a:r>
              <a:rPr lang="en-US" sz="1500" i="1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DecoType Thuluth" panose="02010000000000000000" pitchFamily="2" charset="-78"/>
              </a:rPr>
              <a:t> </a:t>
            </a:r>
            <a:r>
              <a:rPr lang="en-US" sz="1500" i="1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Tunisie est nécessaire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438912"/>
          </a:xfrm>
          <a:prstGeom prst="rect">
            <a:avLst/>
          </a:prstGeom>
          <a:solidFill>
            <a:srgbClr val="8B5A3A"/>
          </a:solidFill>
          <a:ln w="12700">
            <a:solidFill>
              <a:srgbClr val="8B5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Vente uniquement — aucune collaboration ni financement de projet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71600"/>
            <a:ext cx="4023360" cy="4389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Financement généraliste — sans accompagnement en compétences artisanales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4023360" cy="438912"/>
          </a:xfrm>
          <a:prstGeom prst="rect">
            <a:avLst/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/ Upwork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Plateformes génériques — aucun ancrage dans l'artisanat local tunisien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2004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200400"/>
            <a:ext cx="4023360" cy="438912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 / Coursera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37490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Formation en ligne non connectée à des projets réels ou à des investisseurs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ar-SA" sz="1200" b="1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DecoType Thuluth" panose="02010000000000000000" pitchFamily="2" charset="-78"/>
              </a:rPr>
              <a:t>حرفة</a:t>
            </a:r>
            <a:r>
              <a:rPr lang="en-US" sz="1200" b="1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Tunisie : la première plateforme qui réunit idées, expertises et financement dans un seul écosystème artisanal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écosystème numérique intégré qui connecte les créateurs, les experts artisans et les investisseurs sur une seule plateforme dédiée à l'artisanat tunisien.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48840"/>
            <a:ext cx="91440" cy="1188720"/>
          </a:xfrm>
          <a:prstGeom prst="rect">
            <a:avLst/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40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61872" y="22402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Valorisation du patrimoine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7919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numérique dédiée à l'artisanat tunisien — visibilité locale et internationale.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21488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148840"/>
            <a:ext cx="91440" cy="1188720"/>
          </a:xfrm>
          <a:prstGeom prst="rect">
            <a:avLst/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199" y="2240280"/>
            <a:ext cx="70338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05272" y="22402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ressources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7919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Matériaux, compétences et financement réunis sur une seule plateforme.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66160"/>
            <a:ext cx="91440" cy="1188720"/>
          </a:xfrm>
          <a:prstGeom prst="rect">
            <a:avLst/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576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61872" y="3657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réseau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09651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créateurs, experts, investisseurs et travailleurs efficacement.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356616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566160"/>
            <a:ext cx="91440" cy="1188720"/>
          </a:xfrm>
          <a:prstGeom prst="rect">
            <a:avLst/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657600"/>
            <a:ext cx="703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05272" y="3657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certification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409651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certifiants reconnus, directement liés à des projets réels.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5A3A"/>
          </a:solidFill>
          <a:ln w="12700">
            <a:solidFill>
              <a:srgbClr val="8B5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Valeur Ajoutée &amp;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720905" cy="1234440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39" y="1005840"/>
            <a:ext cx="362946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3-en-1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39" y="1691640"/>
            <a:ext cx="362946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Idées + Formation + Financement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92040" y="963637"/>
            <a:ext cx="3640015" cy="123444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00235" y="97770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64369" y="1630798"/>
            <a:ext cx="32566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Dédié à l'artisanat tunisien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005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468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468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internationale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artisans tunisiens accèdent à une vitrine numérique professionnelle, connectée au marché mondial.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377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468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2468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structurée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et artisans collaborent directement via une plateforme sécurisée et transparente.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3749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valorisée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certificats émis par CraftLink attestent d'un niveau reconnu, renforçant l'employabilité.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749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0" y="3749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accessible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d'enchères transparent permet aux investisseurs de soutenir des projets locaux authentiques.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2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>
            <a:extLst>
              <a:ext uri="{FF2B5EF4-FFF2-40B4-BE49-F238E27FC236}">
                <a16:creationId xmlns:a16="http://schemas.microsoft.com/office/drawing/2014/main" id="{B2E8FFE0-B915-2F1E-926E-06F6D0EE5E56}"/>
              </a:ext>
            </a:extLst>
          </p:cNvPr>
          <p:cNvSpPr/>
          <p:nvPr/>
        </p:nvSpPr>
        <p:spPr>
          <a:xfrm>
            <a:off x="0" y="886968"/>
            <a:ext cx="9144000" cy="4256532"/>
          </a:xfrm>
          <a:prstGeom prst="rect">
            <a:avLst/>
          </a:prstGeom>
          <a:solidFill>
            <a:srgbClr val="EDE0C4"/>
          </a:solidFill>
          <a:ln w="12700">
            <a:solidFill>
              <a:srgbClr val="6B3F28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-28135"/>
            <a:ext cx="9144000" cy="914400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6 Modules de</a:t>
            </a:r>
            <a:r>
              <a:rPr lang="fr-FR" sz="3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ar-SA" sz="3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DecoType Thuluth" panose="02010000000000000000" pitchFamily="2" charset="-78"/>
              </a:rPr>
              <a:t>حرفة</a:t>
            </a:r>
            <a:endParaRPr lang="en-US" sz="3000" dirty="0">
              <a:cs typeface="DecoType Thuluth" panose="020100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691640"/>
          </a:xfrm>
          <a:prstGeom prst="rect">
            <a:avLst/>
          </a:prstGeom>
          <a:solidFill>
            <a:srgbClr val="593421"/>
          </a:solidFill>
          <a:ln w="12700">
            <a:solidFill>
              <a:srgbClr val="8B5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73152"/>
          </a:xfrm>
          <a:prstGeom prst="rect">
            <a:avLst/>
          </a:prstGeom>
          <a:solidFill>
            <a:srgbClr val="8B5A3A"/>
          </a:solidFill>
          <a:ln w="12700">
            <a:solidFill>
              <a:srgbClr val="8B5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16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8408" y="12161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Idées de projets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d'idées avec compétences &amp; budget requis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1691640"/>
          </a:xfrm>
          <a:prstGeom prst="rect">
            <a:avLst/>
          </a:prstGeom>
          <a:solidFill>
            <a:srgbClr val="593421"/>
          </a:solidFill>
          <a:ln w="12700">
            <a:solidFill>
              <a:srgbClr val="2E6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51560"/>
            <a:ext cx="2651760" cy="7315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16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13048" y="12161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Workshop_Skills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0299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vidéo par des mentors certifiés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051560"/>
            <a:ext cx="2651760" cy="1691640"/>
          </a:xfrm>
          <a:prstGeom prst="rect">
            <a:avLst/>
          </a:prstGeom>
          <a:solidFill>
            <a:srgbClr val="593421"/>
          </a:solidFill>
          <a:ln w="12700">
            <a:solidFill>
              <a:srgbClr val="C49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051560"/>
            <a:ext cx="2651760" cy="73152"/>
          </a:xfrm>
          <a:prstGeom prst="rect">
            <a:avLst/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216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47688" y="12161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20299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d'enchères pour financer les projets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2651760" cy="1691640"/>
          </a:xfrm>
          <a:prstGeom prst="rect">
            <a:avLst/>
          </a:prstGeom>
          <a:solidFill>
            <a:srgbClr val="593421"/>
          </a:solidFill>
          <a:ln w="12700">
            <a:solidFill>
              <a:srgbClr val="8B5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71800"/>
            <a:ext cx="2651760" cy="73152"/>
          </a:xfrm>
          <a:prstGeom prst="rect">
            <a:avLst/>
          </a:prstGeom>
          <a:solidFill>
            <a:srgbClr val="8B5A3A"/>
          </a:solidFill>
          <a:ln w="12700">
            <a:solidFill>
              <a:srgbClr val="8B5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36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📜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78408" y="31363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566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&amp; certifs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9502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structurés avec certificats plateforme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2978834"/>
            <a:ext cx="2651760" cy="1691640"/>
          </a:xfrm>
          <a:prstGeom prst="rect">
            <a:avLst/>
          </a:prstGeom>
          <a:solidFill>
            <a:srgbClr val="593421"/>
          </a:solidFill>
          <a:ln w="12700">
            <a:solidFill>
              <a:srgbClr val="2E6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971800"/>
            <a:ext cx="2651760" cy="7315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136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🧰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813048" y="31363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3566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d'emploi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39502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Recrutement d'artisans pour les projets actifs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2971800"/>
            <a:ext cx="2651760" cy="1691640"/>
          </a:xfrm>
          <a:prstGeom prst="rect">
            <a:avLst/>
          </a:prstGeom>
          <a:solidFill>
            <a:srgbClr val="593421"/>
          </a:solidFill>
          <a:ln w="12700">
            <a:solidFill>
              <a:srgbClr val="C49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89320" y="2971800"/>
            <a:ext cx="2651760" cy="73152"/>
          </a:xfrm>
          <a:prstGeom prst="rect">
            <a:avLst/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3136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🪪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47688" y="31363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3566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professionnel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26480" y="39502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centrale : compétences &amp; réputation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>
            <a:extLst>
              <a:ext uri="{FF2B5EF4-FFF2-40B4-BE49-F238E27FC236}">
                <a16:creationId xmlns:a16="http://schemas.microsoft.com/office/drawing/2014/main" id="{AD8C68D6-9AD9-ABD3-5E00-6B34FFD508F3}"/>
              </a:ext>
            </a:extLst>
          </p:cNvPr>
          <p:cNvSpPr/>
          <p:nvPr/>
        </p:nvSpPr>
        <p:spPr>
          <a:xfrm>
            <a:off x="0" y="102870"/>
            <a:ext cx="9144000" cy="109728"/>
          </a:xfrm>
          <a:prstGeom prst="rect">
            <a:avLst/>
          </a:prstGeom>
          <a:solidFill>
            <a:srgbClr val="C49A6C"/>
          </a:solidFill>
          <a:ln w="12700">
            <a:solidFill>
              <a:srgbClr val="C49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1">
            <a:extLst>
              <a:ext uri="{FF2B5EF4-FFF2-40B4-BE49-F238E27FC236}">
                <a16:creationId xmlns:a16="http://schemas.microsoft.com/office/drawing/2014/main" id="{D5FF9871-82A3-0EE5-2348-2F850B0E6B3D}"/>
              </a:ext>
            </a:extLst>
          </p:cNvPr>
          <p:cNvSpPr/>
          <p:nvPr/>
        </p:nvSpPr>
        <p:spPr>
          <a:xfrm>
            <a:off x="457200" y="33147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 Graphique</a:t>
            </a:r>
            <a:endParaRPr lang="en-US" sz="3000" dirty="0"/>
          </a:p>
        </p:txBody>
      </p:sp>
      <p:sp>
        <p:nvSpPr>
          <p:cNvPr id="102" name="Text 2">
            <a:extLst>
              <a:ext uri="{FF2B5EF4-FFF2-40B4-BE49-F238E27FC236}">
                <a16:creationId xmlns:a16="http://schemas.microsoft.com/office/drawing/2014/main" id="{E9422AE8-4390-9089-C820-0A68F7933116}"/>
              </a:ext>
            </a:extLst>
          </p:cNvPr>
          <p:cNvSpPr/>
          <p:nvPr/>
        </p:nvSpPr>
        <p:spPr>
          <a:xfrm>
            <a:off x="457200" y="90754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i="1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visuelle de CraftLink Tunisie</a:t>
            </a:r>
            <a:endParaRPr lang="en-US" sz="1400" dirty="0"/>
          </a:p>
        </p:txBody>
      </p:sp>
      <p:sp>
        <p:nvSpPr>
          <p:cNvPr id="103" name="Shape 3">
            <a:extLst>
              <a:ext uri="{FF2B5EF4-FFF2-40B4-BE49-F238E27FC236}">
                <a16:creationId xmlns:a16="http://schemas.microsoft.com/office/drawing/2014/main" id="{E82F60C3-6820-1CA3-7F99-F32C89FA70B1}"/>
              </a:ext>
            </a:extLst>
          </p:cNvPr>
          <p:cNvSpPr/>
          <p:nvPr/>
        </p:nvSpPr>
        <p:spPr>
          <a:xfrm>
            <a:off x="548640" y="1428750"/>
            <a:ext cx="1371600" cy="1371600"/>
          </a:xfrm>
          <a:prstGeom prst="rect">
            <a:avLst/>
          </a:prstGeom>
          <a:solidFill>
            <a:srgbClr val="8B5A3A"/>
          </a:solidFill>
          <a:ln w="12700">
            <a:solidFill>
              <a:srgbClr val="1A0E0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Text 4">
            <a:extLst>
              <a:ext uri="{FF2B5EF4-FFF2-40B4-BE49-F238E27FC236}">
                <a16:creationId xmlns:a16="http://schemas.microsoft.com/office/drawing/2014/main" id="{3B740A63-2DD4-2467-FD29-D6F47CCBC81C}"/>
              </a:ext>
            </a:extLst>
          </p:cNvPr>
          <p:cNvSpPr/>
          <p:nvPr/>
        </p:nvSpPr>
        <p:spPr>
          <a:xfrm>
            <a:off x="548640" y="289179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Marron principal</a:t>
            </a:r>
            <a:endParaRPr lang="en-US" sz="1000" dirty="0"/>
          </a:p>
        </p:txBody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A21449D0-3562-ADD8-4182-AB2CE1080876}"/>
              </a:ext>
            </a:extLst>
          </p:cNvPr>
          <p:cNvSpPr/>
          <p:nvPr/>
        </p:nvSpPr>
        <p:spPr>
          <a:xfrm>
            <a:off x="548640" y="319354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#8B5A3A</a:t>
            </a:r>
            <a:endParaRPr lang="en-US" sz="1000" dirty="0"/>
          </a:p>
        </p:txBody>
      </p:sp>
      <p:sp>
        <p:nvSpPr>
          <p:cNvPr id="106" name="Shape 6">
            <a:extLst>
              <a:ext uri="{FF2B5EF4-FFF2-40B4-BE49-F238E27FC236}">
                <a16:creationId xmlns:a16="http://schemas.microsoft.com/office/drawing/2014/main" id="{8FDEAC48-AA3D-022D-885B-62E64756EC9F}"/>
              </a:ext>
            </a:extLst>
          </p:cNvPr>
          <p:cNvSpPr/>
          <p:nvPr/>
        </p:nvSpPr>
        <p:spPr>
          <a:xfrm>
            <a:off x="2194560" y="1428750"/>
            <a:ext cx="1371600" cy="1371600"/>
          </a:xfrm>
          <a:prstGeom prst="rect">
            <a:avLst/>
          </a:prstGeom>
          <a:solidFill>
            <a:srgbClr val="2E6B3E"/>
          </a:solidFill>
          <a:ln w="12700">
            <a:solidFill>
              <a:srgbClr val="1A0E0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44FC8EBF-1C2D-45B8-72F0-311D265924C3}"/>
              </a:ext>
            </a:extLst>
          </p:cNvPr>
          <p:cNvSpPr/>
          <p:nvPr/>
        </p:nvSpPr>
        <p:spPr>
          <a:xfrm>
            <a:off x="2194560" y="289179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forêt</a:t>
            </a:r>
            <a:endParaRPr lang="en-US" sz="1000" dirty="0"/>
          </a:p>
        </p:txBody>
      </p:sp>
      <p:sp>
        <p:nvSpPr>
          <p:cNvPr id="108" name="Text 8">
            <a:extLst>
              <a:ext uri="{FF2B5EF4-FFF2-40B4-BE49-F238E27FC236}">
                <a16:creationId xmlns:a16="http://schemas.microsoft.com/office/drawing/2014/main" id="{1D078ED1-FC1A-A4FB-6CF5-0CD8777EDFAC}"/>
              </a:ext>
            </a:extLst>
          </p:cNvPr>
          <p:cNvSpPr/>
          <p:nvPr/>
        </p:nvSpPr>
        <p:spPr>
          <a:xfrm>
            <a:off x="2194560" y="319354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#2E6B3E</a:t>
            </a:r>
            <a:endParaRPr lang="en-US" sz="1000" dirty="0"/>
          </a:p>
        </p:txBody>
      </p:sp>
      <p:sp>
        <p:nvSpPr>
          <p:cNvPr id="109" name="Shape 9">
            <a:extLst>
              <a:ext uri="{FF2B5EF4-FFF2-40B4-BE49-F238E27FC236}">
                <a16:creationId xmlns:a16="http://schemas.microsoft.com/office/drawing/2014/main" id="{899A4015-1705-8AD8-D18D-0E8B75428727}"/>
              </a:ext>
            </a:extLst>
          </p:cNvPr>
          <p:cNvSpPr/>
          <p:nvPr/>
        </p:nvSpPr>
        <p:spPr>
          <a:xfrm>
            <a:off x="3840480" y="1428750"/>
            <a:ext cx="1371600" cy="1371600"/>
          </a:xfrm>
          <a:prstGeom prst="rect">
            <a:avLst/>
          </a:prstGeom>
          <a:solidFill>
            <a:srgbClr val="C49A6C"/>
          </a:solidFill>
          <a:ln w="12700">
            <a:solidFill>
              <a:srgbClr val="1A0E0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E700E8E0-94CC-5751-32B4-59FA9DDD800C}"/>
              </a:ext>
            </a:extLst>
          </p:cNvPr>
          <p:cNvSpPr/>
          <p:nvPr/>
        </p:nvSpPr>
        <p:spPr>
          <a:xfrm>
            <a:off x="3840480" y="289179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Caramel chaud</a:t>
            </a:r>
            <a:endParaRPr lang="en-US" sz="1000" dirty="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65F24D3D-07BE-1788-B401-3EC58158227D}"/>
              </a:ext>
            </a:extLst>
          </p:cNvPr>
          <p:cNvSpPr/>
          <p:nvPr/>
        </p:nvSpPr>
        <p:spPr>
          <a:xfrm>
            <a:off x="3840480" y="319354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#C49A6C</a:t>
            </a:r>
            <a:endParaRPr lang="en-US" sz="1000" dirty="0"/>
          </a:p>
        </p:txBody>
      </p:sp>
      <p:sp>
        <p:nvSpPr>
          <p:cNvPr id="112" name="Shape 12">
            <a:extLst>
              <a:ext uri="{FF2B5EF4-FFF2-40B4-BE49-F238E27FC236}">
                <a16:creationId xmlns:a16="http://schemas.microsoft.com/office/drawing/2014/main" id="{71F14D71-9E1E-B76F-D0EB-656D4CC90DF5}"/>
              </a:ext>
            </a:extLst>
          </p:cNvPr>
          <p:cNvSpPr/>
          <p:nvPr/>
        </p:nvSpPr>
        <p:spPr>
          <a:xfrm>
            <a:off x="5486400" y="1428750"/>
            <a:ext cx="1371600" cy="1371600"/>
          </a:xfrm>
          <a:prstGeom prst="rect">
            <a:avLst/>
          </a:prstGeom>
          <a:solidFill>
            <a:srgbClr val="F5ECD7"/>
          </a:solidFill>
          <a:ln w="12700">
            <a:solidFill>
              <a:srgbClr val="1A0E0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Text 13">
            <a:extLst>
              <a:ext uri="{FF2B5EF4-FFF2-40B4-BE49-F238E27FC236}">
                <a16:creationId xmlns:a16="http://schemas.microsoft.com/office/drawing/2014/main" id="{B4E28888-8143-D04D-8CC4-672CBD69880B}"/>
              </a:ext>
            </a:extLst>
          </p:cNvPr>
          <p:cNvSpPr/>
          <p:nvPr/>
        </p:nvSpPr>
        <p:spPr>
          <a:xfrm>
            <a:off x="5486400" y="289179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Crème fond</a:t>
            </a:r>
            <a:endParaRPr lang="en-US" sz="1000" dirty="0"/>
          </a:p>
        </p:txBody>
      </p:sp>
      <p:sp>
        <p:nvSpPr>
          <p:cNvPr id="114" name="Text 14">
            <a:extLst>
              <a:ext uri="{FF2B5EF4-FFF2-40B4-BE49-F238E27FC236}">
                <a16:creationId xmlns:a16="http://schemas.microsoft.com/office/drawing/2014/main" id="{BDB22E3B-B780-8B94-9BE8-551C2DDEE3DF}"/>
              </a:ext>
            </a:extLst>
          </p:cNvPr>
          <p:cNvSpPr/>
          <p:nvPr/>
        </p:nvSpPr>
        <p:spPr>
          <a:xfrm>
            <a:off x="5486400" y="319354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#F5ECD7</a:t>
            </a:r>
            <a:endParaRPr lang="en-US" sz="1000" dirty="0"/>
          </a:p>
        </p:txBody>
      </p:sp>
      <p:sp>
        <p:nvSpPr>
          <p:cNvPr id="115" name="Shape 15">
            <a:extLst>
              <a:ext uri="{FF2B5EF4-FFF2-40B4-BE49-F238E27FC236}">
                <a16:creationId xmlns:a16="http://schemas.microsoft.com/office/drawing/2014/main" id="{5DDBA1F6-1B5B-F850-B4EB-E0B148CE34E7}"/>
              </a:ext>
            </a:extLst>
          </p:cNvPr>
          <p:cNvSpPr/>
          <p:nvPr/>
        </p:nvSpPr>
        <p:spPr>
          <a:xfrm>
            <a:off x="7132320" y="1428750"/>
            <a:ext cx="1371600" cy="1371600"/>
          </a:xfrm>
          <a:prstGeom prst="rect">
            <a:avLst/>
          </a:prstGeom>
          <a:solidFill>
            <a:srgbClr val="3B2314"/>
          </a:solidFill>
          <a:ln w="12700">
            <a:solidFill>
              <a:srgbClr val="1A0E0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Text 16">
            <a:extLst>
              <a:ext uri="{FF2B5EF4-FFF2-40B4-BE49-F238E27FC236}">
                <a16:creationId xmlns:a16="http://schemas.microsoft.com/office/drawing/2014/main" id="{5087AB8F-78B1-9103-CDE2-79323239B3B3}"/>
              </a:ext>
            </a:extLst>
          </p:cNvPr>
          <p:cNvSpPr/>
          <p:nvPr/>
        </p:nvSpPr>
        <p:spPr>
          <a:xfrm>
            <a:off x="7132320" y="289179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 sombre</a:t>
            </a:r>
            <a:endParaRPr lang="en-US" sz="1000" dirty="0"/>
          </a:p>
        </p:txBody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35FD04EB-D1C5-7651-11D4-D89FB51E6B11}"/>
              </a:ext>
            </a:extLst>
          </p:cNvPr>
          <p:cNvSpPr/>
          <p:nvPr/>
        </p:nvSpPr>
        <p:spPr>
          <a:xfrm>
            <a:off x="7132320" y="319354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8B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#3B2314</a:t>
            </a:r>
            <a:endParaRPr lang="en-US" sz="1000" dirty="0"/>
          </a:p>
        </p:txBody>
      </p:sp>
      <p:sp>
        <p:nvSpPr>
          <p:cNvPr id="118" name="Shape 18">
            <a:extLst>
              <a:ext uri="{FF2B5EF4-FFF2-40B4-BE49-F238E27FC236}">
                <a16:creationId xmlns:a16="http://schemas.microsoft.com/office/drawing/2014/main" id="{32AC0539-9B20-8254-7C9D-C76977C3E5F1}"/>
              </a:ext>
            </a:extLst>
          </p:cNvPr>
          <p:cNvSpPr/>
          <p:nvPr/>
        </p:nvSpPr>
        <p:spPr>
          <a:xfrm>
            <a:off x="457200" y="3623310"/>
            <a:ext cx="4023360" cy="1417320"/>
          </a:xfrm>
          <a:prstGeom prst="rect">
            <a:avLst/>
          </a:prstGeom>
          <a:solidFill>
            <a:srgbClr val="1A0E07"/>
          </a:solidFill>
          <a:ln w="12700">
            <a:solidFill>
              <a:srgbClr val="C49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7E1307B5-FBEB-7D60-44D5-CEFA445412C3}"/>
              </a:ext>
            </a:extLst>
          </p:cNvPr>
          <p:cNvSpPr/>
          <p:nvPr/>
        </p:nvSpPr>
        <p:spPr>
          <a:xfrm>
            <a:off x="640080" y="366903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300" dirty="0"/>
          </a:p>
        </p:txBody>
      </p:sp>
      <p:sp>
        <p:nvSpPr>
          <p:cNvPr id="120" name="Text 20">
            <a:extLst>
              <a:ext uri="{FF2B5EF4-FFF2-40B4-BE49-F238E27FC236}">
                <a16:creationId xmlns:a16="http://schemas.microsoft.com/office/drawing/2014/main" id="{12E91959-3F77-8FCD-7F40-45CBF34A7FC6}"/>
              </a:ext>
            </a:extLst>
          </p:cNvPr>
          <p:cNvSpPr/>
          <p:nvPr/>
        </p:nvSpPr>
        <p:spPr>
          <a:xfrm>
            <a:off x="640080" y="401650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: Georgia (serif élégant)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: Calibri (lisibilité </a:t>
            </a:r>
            <a:r>
              <a:rPr lang="en-US" sz="1200" dirty="0" err="1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optimale</a:t>
            </a:r>
            <a:r>
              <a:rPr lang="en-US" sz="12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21" name="Shape 21">
            <a:extLst>
              <a:ext uri="{FF2B5EF4-FFF2-40B4-BE49-F238E27FC236}">
                <a16:creationId xmlns:a16="http://schemas.microsoft.com/office/drawing/2014/main" id="{CC7CCF67-6651-7EE4-D006-E7A841932B11}"/>
              </a:ext>
            </a:extLst>
          </p:cNvPr>
          <p:cNvSpPr/>
          <p:nvPr/>
        </p:nvSpPr>
        <p:spPr>
          <a:xfrm>
            <a:off x="4663440" y="3623310"/>
            <a:ext cx="4023360" cy="1417320"/>
          </a:xfrm>
          <a:prstGeom prst="rect">
            <a:avLst/>
          </a:prstGeom>
          <a:solidFill>
            <a:srgbClr val="1A0E07"/>
          </a:solidFill>
          <a:ln w="12700">
            <a:solidFill>
              <a:srgbClr val="2E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F20E2592-A17B-9D92-B3A9-22E593D82A30}"/>
              </a:ext>
            </a:extLst>
          </p:cNvPr>
          <p:cNvSpPr/>
          <p:nvPr/>
        </p:nvSpPr>
        <p:spPr>
          <a:xfrm>
            <a:off x="4846320" y="366903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3D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de design</a:t>
            </a:r>
            <a:endParaRPr lang="en-US" sz="1300" dirty="0"/>
          </a:p>
        </p:txBody>
      </p:sp>
      <p:sp>
        <p:nvSpPr>
          <p:cNvPr id="123" name="Text 23">
            <a:extLst>
              <a:ext uri="{FF2B5EF4-FFF2-40B4-BE49-F238E27FC236}">
                <a16:creationId xmlns:a16="http://schemas.microsoft.com/office/drawing/2014/main" id="{C5927170-8491-4B0A-BD38-EA0CC69AB7CE}"/>
              </a:ext>
            </a:extLst>
          </p:cNvPr>
          <p:cNvSpPr/>
          <p:nvPr/>
        </p:nvSpPr>
        <p:spPr>
          <a:xfrm>
            <a:off x="4846320" y="401650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épurée inspirée de l'artisanat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géométrique berbère en filigrane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crème / brun / vert nature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36" name="Picture 35" descr="A screenshot of a website&#10;&#10;Description automatically generated">
            <a:extLst>
              <a:ext uri="{FF2B5EF4-FFF2-40B4-BE49-F238E27FC236}">
                <a16:creationId xmlns:a16="http://schemas.microsoft.com/office/drawing/2014/main" id="{29645A1F-26AA-A4AC-4ADF-7A672005E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28"/>
            <a:ext cx="8013490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1EC7718-2345-575E-56A9-041257496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88" y="0"/>
            <a:ext cx="3962221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6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D13EF890-F1B2-1CDB-F370-865ABF9105C7}"/>
              </a:ext>
            </a:extLst>
          </p:cNvPr>
          <p:cNvSpPr/>
          <p:nvPr/>
        </p:nvSpPr>
        <p:spPr>
          <a:xfrm>
            <a:off x="0" y="-28135"/>
            <a:ext cx="9144000" cy="914400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179D8-91D6-F786-438F-EFB6D651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86" y="1697699"/>
            <a:ext cx="3490686" cy="2868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EEF600-A066-86B6-D9BD-EFFD38A69343}"/>
              </a:ext>
            </a:extLst>
          </p:cNvPr>
          <p:cNvSpPr txBox="1"/>
          <p:nvPr/>
        </p:nvSpPr>
        <p:spPr>
          <a:xfrm>
            <a:off x="769257" y="12156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idee de </a:t>
            </a:r>
            <a:r>
              <a:rPr lang="en-US" sz="1800" b="1" dirty="0" err="1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DD60E-D6CD-96CA-FAAC-652B47A02429}"/>
              </a:ext>
            </a:extLst>
          </p:cNvPr>
          <p:cNvSpPr txBox="1"/>
          <p:nvPr/>
        </p:nvSpPr>
        <p:spPr>
          <a:xfrm>
            <a:off x="1362528" y="259788"/>
            <a:ext cx="6651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Les diagrams de </a:t>
            </a:r>
            <a:r>
              <a:rPr lang="en-US" sz="1600" b="1" kern="1200" dirty="0" err="1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cas</a:t>
            </a: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600" b="1" kern="1200" dirty="0" err="1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d’utilisation</a:t>
            </a: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pour </a:t>
            </a:r>
            <a:r>
              <a:rPr lang="en-US" sz="1600" b="1" kern="1200" dirty="0" err="1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chaque</a:t>
            </a: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module</a:t>
            </a:r>
            <a:endParaRPr lang="en-US" sz="1600" dirty="0">
              <a:solidFill>
                <a:srgbClr val="EDE0C4"/>
              </a:solidFill>
              <a:effectLst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B5C654-99C3-E8B2-DA1F-50DE50D3E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436" y="1697699"/>
            <a:ext cx="3375249" cy="28685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8FF2CF-05D0-B1FF-683E-488D2AC86D0F}"/>
              </a:ext>
            </a:extLst>
          </p:cNvPr>
          <p:cNvSpPr txBox="1"/>
          <p:nvPr/>
        </p:nvSpPr>
        <p:spPr>
          <a:xfrm>
            <a:off x="5065486" y="1215645"/>
            <a:ext cx="457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</a:t>
            </a:r>
            <a:r>
              <a:rPr lang="en-US" sz="1800" b="1" dirty="0" err="1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Workshop_Skills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02166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D13EF890-F1B2-1CDB-F370-865ABF9105C7}"/>
              </a:ext>
            </a:extLst>
          </p:cNvPr>
          <p:cNvSpPr/>
          <p:nvPr/>
        </p:nvSpPr>
        <p:spPr>
          <a:xfrm>
            <a:off x="0" y="-28135"/>
            <a:ext cx="9144000" cy="914400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EF600-A066-86B6-D9BD-EFFD38A69343}"/>
              </a:ext>
            </a:extLst>
          </p:cNvPr>
          <p:cNvSpPr txBox="1"/>
          <p:nvPr/>
        </p:nvSpPr>
        <p:spPr>
          <a:xfrm>
            <a:off x="711200" y="12720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</a:t>
            </a:r>
            <a:r>
              <a:rPr lang="en-US" sz="1800" b="1" dirty="0" err="1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investissement</a:t>
            </a:r>
            <a:r>
              <a:rPr lang="en-US" sz="18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DD60E-D6CD-96CA-FAAC-652B47A02429}"/>
              </a:ext>
            </a:extLst>
          </p:cNvPr>
          <p:cNvSpPr txBox="1"/>
          <p:nvPr/>
        </p:nvSpPr>
        <p:spPr>
          <a:xfrm>
            <a:off x="1362528" y="259788"/>
            <a:ext cx="6651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Les diagrams de </a:t>
            </a:r>
            <a:r>
              <a:rPr lang="en-US" sz="1600" b="1" kern="1200" dirty="0" err="1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cas</a:t>
            </a: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600" b="1" kern="1200" dirty="0" err="1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d’utilisation</a:t>
            </a: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pour </a:t>
            </a:r>
            <a:r>
              <a:rPr lang="en-US" sz="1600" b="1" kern="1200" dirty="0" err="1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chaque</a:t>
            </a: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module</a:t>
            </a:r>
            <a:endParaRPr lang="en-US" sz="1600" dirty="0">
              <a:solidFill>
                <a:srgbClr val="EDE0C4"/>
              </a:solidFill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8FF2CF-05D0-B1FF-683E-488D2AC86D0F}"/>
              </a:ext>
            </a:extLst>
          </p:cNvPr>
          <p:cNvSpPr txBox="1"/>
          <p:nvPr/>
        </p:nvSpPr>
        <p:spPr>
          <a:xfrm>
            <a:off x="4901182" y="1272006"/>
            <a:ext cx="457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formation &amp; </a:t>
            </a:r>
            <a:r>
              <a:rPr lang="en-US" sz="1800" b="1" dirty="0" err="1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475590-0D83-6EC7-4E51-37B54F0B7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57" y="1697699"/>
            <a:ext cx="2705461" cy="30748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968972-EDE9-662E-5846-C8442F27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558" y="1697699"/>
            <a:ext cx="2728142" cy="313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D13EF890-F1B2-1CDB-F370-865ABF9105C7}"/>
              </a:ext>
            </a:extLst>
          </p:cNvPr>
          <p:cNvSpPr/>
          <p:nvPr/>
        </p:nvSpPr>
        <p:spPr>
          <a:xfrm>
            <a:off x="0" y="-28135"/>
            <a:ext cx="9144000" cy="914400"/>
          </a:xfrm>
          <a:prstGeom prst="rect">
            <a:avLst/>
          </a:prstGeom>
          <a:solidFill>
            <a:srgbClr val="6B3F28"/>
          </a:solidFill>
          <a:ln w="12700">
            <a:solidFill>
              <a:srgbClr val="6B3F28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EF600-A066-86B6-D9BD-EFFD38A69343}"/>
              </a:ext>
            </a:extLst>
          </p:cNvPr>
          <p:cNvSpPr txBox="1"/>
          <p:nvPr/>
        </p:nvSpPr>
        <p:spPr>
          <a:xfrm>
            <a:off x="711200" y="12720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</a:t>
            </a:r>
            <a:r>
              <a:rPr lang="en-US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 </a:t>
            </a:r>
            <a:r>
              <a:rPr lang="en-US" b="1" dirty="0" err="1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d’emploi</a:t>
            </a:r>
            <a:r>
              <a:rPr lang="en-US" sz="18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DD60E-D6CD-96CA-FAAC-652B47A02429}"/>
              </a:ext>
            </a:extLst>
          </p:cNvPr>
          <p:cNvSpPr txBox="1"/>
          <p:nvPr/>
        </p:nvSpPr>
        <p:spPr>
          <a:xfrm>
            <a:off x="1362528" y="259788"/>
            <a:ext cx="6651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Les diagrams de </a:t>
            </a:r>
            <a:r>
              <a:rPr lang="en-US" sz="1600" b="1" kern="1200" dirty="0" err="1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cas</a:t>
            </a: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600" b="1" kern="1200" dirty="0" err="1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d’utilisation</a:t>
            </a: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pour </a:t>
            </a:r>
            <a:r>
              <a:rPr lang="en-US" sz="1600" b="1" kern="1200" dirty="0" err="1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chaque</a:t>
            </a:r>
            <a:r>
              <a:rPr lang="en-US" sz="1600" b="1" kern="1200" dirty="0">
                <a:solidFill>
                  <a:srgbClr val="EDE0C4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module</a:t>
            </a:r>
            <a:endParaRPr lang="en-US" sz="1600" dirty="0">
              <a:solidFill>
                <a:srgbClr val="EDE0C4"/>
              </a:solidFill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8FF2CF-05D0-B1FF-683E-488D2AC86D0F}"/>
              </a:ext>
            </a:extLst>
          </p:cNvPr>
          <p:cNvSpPr txBox="1"/>
          <p:nvPr/>
        </p:nvSpPr>
        <p:spPr>
          <a:xfrm>
            <a:off x="4901182" y="1272006"/>
            <a:ext cx="457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profile </a:t>
            </a:r>
            <a:r>
              <a:rPr lang="en-US" sz="1800" b="1" dirty="0" err="1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professionel</a:t>
            </a:r>
            <a:r>
              <a:rPr lang="en-US" sz="1800" b="1" dirty="0">
                <a:solidFill>
                  <a:srgbClr val="3B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DC7AF-5BF8-364B-C82A-2EFDBE57C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0" y="1641338"/>
            <a:ext cx="2950300" cy="3480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7C6A5D-1593-6FE3-E95E-2109EEC88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2" y="1641338"/>
            <a:ext cx="3520800" cy="345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38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Bar">
            <a:extLst>
              <a:ext uri="{FF2B5EF4-FFF2-40B4-BE49-F238E27FC236}">
                <a16:creationId xmlns:a16="http://schemas.microsoft.com/office/drawing/2014/main" id="{89D8DDA9-783E-A043-46CD-32AF3E4BAEA1}"/>
              </a:ext>
            </a:extLst>
          </p:cNvPr>
          <p:cNvSpPr/>
          <p:nvPr/>
        </p:nvSpPr>
        <p:spPr>
          <a:xfrm>
            <a:off x="0" y="0"/>
            <a:ext cx="180000" cy="5143500"/>
          </a:xfrm>
          <a:prstGeom prst="rect">
            <a:avLst/>
          </a:prstGeom>
          <a:solidFill>
            <a:srgbClr val="8B5A3A"/>
          </a:solidFill>
          <a:ln>
            <a:noFill/>
          </a:ln>
        </p:spPr>
      </p:sp>
      <p:sp>
        <p:nvSpPr>
          <p:cNvPr id="5" name="TopBand">
            <a:extLst>
              <a:ext uri="{FF2B5EF4-FFF2-40B4-BE49-F238E27FC236}">
                <a16:creationId xmlns:a16="http://schemas.microsoft.com/office/drawing/2014/main" id="{1B2531E3-BD8B-8037-252B-39B21048ED0C}"/>
              </a:ext>
            </a:extLst>
          </p:cNvPr>
          <p:cNvSpPr/>
          <p:nvPr/>
        </p:nvSpPr>
        <p:spPr>
          <a:xfrm>
            <a:off x="180000" y="0"/>
            <a:ext cx="8964000" cy="300000"/>
          </a:xfrm>
          <a:prstGeom prst="rect">
            <a:avLst/>
          </a:prstGeom>
          <a:solidFill>
            <a:srgbClr val="3B2314"/>
          </a:solidFill>
          <a:ln>
            <a:noFill/>
          </a:ln>
        </p:spPr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E6E67809-CA26-E3B0-EA81-17B836EF97F6}"/>
              </a:ext>
            </a:extLst>
          </p:cNvPr>
          <p:cNvSpPr/>
          <p:nvPr/>
        </p:nvSpPr>
        <p:spPr>
          <a:xfrm>
            <a:off x="330000" y="360000"/>
            <a:ext cx="4600000" cy="5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fr-FR" sz="3200" b="0" i="1" dirty="0">
                <a:solidFill>
                  <a:srgbClr val="8B5A3A"/>
                </a:solidFill>
                <a:latin typeface="Calibri"/>
              </a:rPr>
              <a:t>Analyse du logo “</a:t>
            </a:r>
            <a:r>
              <a:rPr lang="ar-SA" sz="3200" b="0" i="1" dirty="0">
                <a:solidFill>
                  <a:srgbClr val="8B5A3A"/>
                </a:solidFill>
                <a:latin typeface="Calibri"/>
                <a:cs typeface="DecoType Thuluth" panose="02010000000000000000" pitchFamily="2" charset="-78"/>
              </a:rPr>
              <a:t>حرفة</a:t>
            </a:r>
            <a:r>
              <a:rPr lang="fr-FR" sz="3200" b="0" i="1" dirty="0">
                <a:solidFill>
                  <a:srgbClr val="8B5A3A"/>
                </a:solidFill>
                <a:latin typeface="Calibri"/>
              </a:rPr>
              <a:t> Tunisie”</a:t>
            </a:r>
          </a:p>
        </p:txBody>
      </p:sp>
      <p:sp>
        <p:nvSpPr>
          <p:cNvPr id="7" name="Sub">
            <a:extLst>
              <a:ext uri="{FF2B5EF4-FFF2-40B4-BE49-F238E27FC236}">
                <a16:creationId xmlns:a16="http://schemas.microsoft.com/office/drawing/2014/main" id="{FFD02B99-63FB-92B4-62EA-031A74A24BE0}"/>
              </a:ext>
            </a:extLst>
          </p:cNvPr>
          <p:cNvSpPr/>
          <p:nvPr/>
        </p:nvSpPr>
        <p:spPr>
          <a:xfrm>
            <a:off x="330000" y="760000"/>
            <a:ext cx="4600000" cy="2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endParaRPr lang="fr-FR" sz="1500" b="0" i="1" dirty="0">
              <a:solidFill>
                <a:srgbClr val="8B5A3A"/>
              </a:solidFill>
              <a:latin typeface="Calibri"/>
            </a:endParaRPr>
          </a:p>
        </p:txBody>
      </p:sp>
      <p:pic>
        <p:nvPicPr>
          <p:cNvPr id="8" name="LogoMain">
            <a:extLst>
              <a:ext uri="{FF2B5EF4-FFF2-40B4-BE49-F238E27FC236}">
                <a16:creationId xmlns:a16="http://schemas.microsoft.com/office/drawing/2014/main" id="{2E3A07AD-D404-5AAF-40F2-829C884BAF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" r="-377" b="14616"/>
          <a:stretch/>
        </p:blipFill>
        <p:spPr>
          <a:xfrm>
            <a:off x="5100000" y="400000"/>
            <a:ext cx="3714000" cy="3264634"/>
          </a:xfrm>
          <a:prstGeom prst="rect">
            <a:avLst/>
          </a:prstGeom>
        </p:spPr>
      </p:pic>
      <p:sp>
        <p:nvSpPr>
          <p:cNvPr id="9" name="Desc">
            <a:extLst>
              <a:ext uri="{FF2B5EF4-FFF2-40B4-BE49-F238E27FC236}">
                <a16:creationId xmlns:a16="http://schemas.microsoft.com/office/drawing/2014/main" id="{692FD17F-92CF-2D49-76BB-54DA535FEEBC}"/>
              </a:ext>
            </a:extLst>
          </p:cNvPr>
          <p:cNvSpPr/>
          <p:nvPr/>
        </p:nvSpPr>
        <p:spPr>
          <a:xfrm>
            <a:off x="330000" y="1415366"/>
            <a:ext cx="4600000" cy="3264634"/>
          </a:xfrm>
          <a:prstGeom prst="rect">
            <a:avLst/>
          </a:prstGeom>
          <a:noFill/>
        </p:spPr>
        <p:txBody>
          <a:bodyPr wrap="square" lIns="0" tIns="0" rIns="91440" bIns="0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fr-FR" sz="1500" b="1" dirty="0">
                <a:solidFill>
                  <a:srgbClr val="8B5A3A"/>
                </a:solidFill>
                <a:latin typeface="Georgia"/>
              </a:rPr>
              <a:t>Lettre Arabe «Ha» (ح)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fr-FR" sz="1300" b="0" dirty="0">
                <a:solidFill>
                  <a:srgbClr val="3B2314"/>
                </a:solidFill>
                <a:latin typeface="Calibri"/>
              </a:rPr>
              <a:t>Initiale de «</a:t>
            </a:r>
            <a:r>
              <a:rPr lang="ar-SA" sz="1300" b="0" dirty="0">
                <a:solidFill>
                  <a:srgbClr val="3B2314"/>
                </a:solidFill>
                <a:latin typeface="Calibri"/>
              </a:rPr>
              <a:t>حرفة</a:t>
            </a:r>
            <a:r>
              <a:rPr lang="fr-FR" sz="1300" b="0" dirty="0">
                <a:solidFill>
                  <a:srgbClr val="3B2314"/>
                </a:solidFill>
                <a:latin typeface="Calibri"/>
              </a:rPr>
              <a:t>» (</a:t>
            </a:r>
            <a:r>
              <a:rPr lang="fr-FR" sz="1300" b="0" dirty="0" err="1">
                <a:solidFill>
                  <a:srgbClr val="3B2314"/>
                </a:solidFill>
                <a:latin typeface="Calibri"/>
              </a:rPr>
              <a:t>حرفة</a:t>
            </a:r>
            <a:r>
              <a:rPr lang="fr-FR" sz="1300" b="0" dirty="0">
                <a:solidFill>
                  <a:srgbClr val="3B2314"/>
                </a:solidFill>
                <a:latin typeface="Calibri"/>
              </a:rPr>
              <a:t>), remplie de motifs géométriques </a:t>
            </a:r>
            <a:r>
              <a:rPr lang="fr-FR" sz="1300" b="0" dirty="0" err="1">
                <a:solidFill>
                  <a:srgbClr val="3B2314"/>
                </a:solidFill>
                <a:latin typeface="Calibri"/>
              </a:rPr>
              <a:t>brebères</a:t>
            </a:r>
            <a:r>
              <a:rPr lang="fr-FR" sz="1300" b="0" dirty="0">
                <a:solidFill>
                  <a:srgbClr val="3B2314"/>
                </a:solidFill>
                <a:latin typeface="Calibri"/>
              </a:rPr>
              <a:t> multicolores — rouge, vert, or, bleu — symbolisant la richesse et la diversité de l’artisanat tunisien.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fr-FR" sz="1300" dirty="0">
              <a:solidFill>
                <a:srgbClr val="3B2314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lang="fr-FR" sz="1300" dirty="0">
                <a:latin typeface="Calibri "/>
              </a:rPr>
              <a:t>Il</a:t>
            </a:r>
            <a:r>
              <a:rPr lang="fr-FR" sz="1300" dirty="0"/>
              <a:t> associe des motifs traditionnels à un design moderne pour valoriser le savoir-faire local.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fr-FR" sz="1300" dirty="0">
              <a:solidFill>
                <a:srgbClr val="3B2314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fr-FR" sz="1500" b="1" dirty="0">
              <a:solidFill>
                <a:srgbClr val="2E6B3E"/>
              </a:solidFill>
              <a:latin typeface="Georgia"/>
            </a:endParaRPr>
          </a:p>
        </p:txBody>
      </p:sp>
      <p:sp>
        <p:nvSpPr>
          <p:cNvPr id="10" name="BottomBar">
            <a:extLst>
              <a:ext uri="{FF2B5EF4-FFF2-40B4-BE49-F238E27FC236}">
                <a16:creationId xmlns:a16="http://schemas.microsoft.com/office/drawing/2014/main" id="{62BC9616-A1D2-8909-B97F-FFE98CE8C237}"/>
              </a:ext>
            </a:extLst>
          </p:cNvPr>
          <p:cNvSpPr/>
          <p:nvPr/>
        </p:nvSpPr>
        <p:spPr>
          <a:xfrm>
            <a:off x="180000" y="4843500"/>
            <a:ext cx="8964000" cy="3000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fr-FR" sz="1100" dirty="0">
                <a:solidFill>
                  <a:srgbClr val="C49A6C"/>
                </a:solidFill>
                <a:latin typeface="Calibri"/>
              </a:rPr>
              <a:t>« L’artisanat tunisien, à l’ère du numérique »  ·  </a:t>
            </a:r>
            <a:r>
              <a:rPr lang="ar-SA" sz="1100" dirty="0">
                <a:solidFill>
                  <a:srgbClr val="C49A6C"/>
                </a:solidFill>
                <a:latin typeface="Calibri"/>
              </a:rPr>
              <a:t>حرفة</a:t>
            </a:r>
            <a:r>
              <a:rPr lang="fr-FR" sz="1100" dirty="0">
                <a:solidFill>
                  <a:srgbClr val="C49A6C"/>
                </a:solidFill>
                <a:latin typeface="Calibri"/>
              </a:rPr>
              <a:t>.tn</a:t>
            </a:r>
          </a:p>
        </p:txBody>
      </p:sp>
    </p:spTree>
    <p:extLst>
      <p:ext uri="{BB962C8B-B14F-4D97-AF65-F5344CB8AC3E}">
        <p14:creationId xmlns:p14="http://schemas.microsoft.com/office/powerpoint/2010/main" val="2602612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2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09728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19456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329184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438912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09728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19456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29184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438912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109728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219456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329184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438912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09728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19456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29184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438912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109728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19456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29184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38912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109728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219456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329184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438912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109728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219456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21040" y="329184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4389120"/>
            <a:ext cx="45720" cy="45720"/>
          </a:xfrm>
          <a:prstGeom prst="rect">
            <a:avLst/>
          </a:prstGeom>
          <a:solidFill>
            <a:srgbClr val="C49A6C">
              <a:alpha val="20000"/>
            </a:srgbClr>
          </a:solidFill>
          <a:ln w="12700">
            <a:solidFill>
              <a:srgbClr val="C49A6C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501661"/>
            <a:ext cx="9144000" cy="66294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sz="4800" b="1" dirty="0">
                <a:solidFill>
                  <a:srgbClr val="F5ECD7"/>
                </a:solidFill>
                <a:latin typeface="Georgia" panose="02040502050405020303" pitchFamily="18" charset="0"/>
                <a:ea typeface="Georgia" pitchFamily="34" charset="-122"/>
                <a:cs typeface="DecoType Thuluth" panose="02010000000000000000" pitchFamily="2" charset="-78"/>
              </a:rPr>
              <a:t>حرفة</a:t>
            </a:r>
            <a:r>
              <a:rPr lang="en-US" sz="4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Tunisie</a:t>
            </a:r>
            <a:endParaRPr lang="en-US" sz="4800" dirty="0"/>
          </a:p>
        </p:txBody>
      </p:sp>
      <p:sp>
        <p:nvSpPr>
          <p:cNvPr id="45" name="Text 43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L'artisanat tunisien, à l'ère du numérique.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66344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130552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79476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387112" y="2086943"/>
            <a:ext cx="1725930" cy="478653"/>
          </a:xfrm>
          <a:prstGeom prst="roundRect">
            <a:avLst>
              <a:gd name="adj" fmla="val 25000"/>
            </a:avLst>
          </a:prstGeom>
          <a:solidFill>
            <a:srgbClr val="8B5A3A">
              <a:alpha val="70000"/>
            </a:srgbClr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5999" y="2101362"/>
            <a:ext cx="19395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artisanales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95556" y="2081667"/>
            <a:ext cx="1765495" cy="478653"/>
          </a:xfrm>
          <a:prstGeom prst="roundRect">
            <a:avLst>
              <a:gd name="adj" fmla="val 25000"/>
            </a:avLst>
          </a:prstGeom>
          <a:solidFill>
            <a:srgbClr val="8B5A3A">
              <a:alpha val="70000"/>
            </a:srgbClr>
          </a:solidFill>
          <a:ln w="12700">
            <a:solidFill>
              <a:srgbClr val="C49A6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89585" y="2081667"/>
            <a:ext cx="2352821" cy="464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100% tunisienne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D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à votre disposition pour toute question.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457200" y="4507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2025–2026  |  </a:t>
            </a:r>
            <a:r>
              <a:rPr lang="ar-SA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حرفة</a:t>
            </a: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645</Words>
  <Application>Microsoft Office PowerPoint</Application>
  <PresentationFormat>On-screen Show (16:9)</PresentationFormat>
  <Paragraphs>144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</vt:lpstr>
      <vt:lpstr>Georgia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CraftLink Tunisie</dc:title>
  <dc:subject>PptxGenJS Presentation</dc:subject>
  <dc:creator>PptxGenJS</dc:creator>
  <cp:lastModifiedBy>Mokhtar</cp:lastModifiedBy>
  <cp:revision>10</cp:revision>
  <dcterms:created xsi:type="dcterms:W3CDTF">2026-04-05T12:40:01Z</dcterms:created>
  <dcterms:modified xsi:type="dcterms:W3CDTF">2026-04-05T22:25:01Z</dcterms:modified>
</cp:coreProperties>
</file>